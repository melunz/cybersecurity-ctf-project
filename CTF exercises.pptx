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53" r:id="rId2"/>
    <p:sldId id="363" r:id="rId3"/>
    <p:sldId id="384" r:id="rId4"/>
    <p:sldId id="386" r:id="rId5"/>
    <p:sldId id="385" r:id="rId6"/>
    <p:sldId id="365" r:id="rId7"/>
    <p:sldId id="381" r:id="rId8"/>
    <p:sldId id="382" r:id="rId9"/>
    <p:sldId id="364" r:id="rId10"/>
    <p:sldId id="426" r:id="rId11"/>
    <p:sldId id="433" r:id="rId12"/>
    <p:sldId id="3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rcise and assignments" id="{A6E53A24-E4B4-4EA6-B1CE-31A49ECF8EB9}">
          <p14:sldIdLst>
            <p14:sldId id="353"/>
          </p14:sldIdLst>
        </p14:section>
        <p14:section name="Cyber exercises" id="{AA4923B7-4C65-4760-AFAF-F41937A653C2}">
          <p14:sldIdLst>
            <p14:sldId id="363"/>
            <p14:sldId id="384"/>
            <p14:sldId id="386"/>
            <p14:sldId id="385"/>
            <p14:sldId id="365"/>
            <p14:sldId id="381"/>
            <p14:sldId id="382"/>
            <p14:sldId id="364"/>
            <p14:sldId id="426"/>
            <p14:sldId id="433"/>
            <p14:sldId id="3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F0F0F0"/>
    <a:srgbClr val="156081"/>
    <a:srgbClr val="FF9933"/>
    <a:srgbClr val="D9ECD1"/>
    <a:srgbClr val="FFFFFF"/>
    <a:srgbClr val="E3F2DE"/>
    <a:srgbClr val="37B8FF"/>
    <a:srgbClr val="CAECFF"/>
    <a:srgbClr val="B485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06" autoAdjust="0"/>
    <p:restoredTop sz="85463" autoAdjust="0"/>
  </p:normalViewPr>
  <p:slideViewPr>
    <p:cSldViewPr snapToGrid="0">
      <p:cViewPr varScale="1">
        <p:scale>
          <a:sx n="54" d="100"/>
          <a:sy n="54" d="100"/>
        </p:scale>
        <p:origin x="1344" y="44"/>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85745-40B2-4783-8D73-E5BA6FF02A1E}"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ECFB7-CFB9-4146-AC29-DEBF388A3AF5}" type="slidenum">
              <a:rPr lang="en-US" smtClean="0"/>
              <a:t>‹#›</a:t>
            </a:fld>
            <a:endParaRPr lang="en-US"/>
          </a:p>
        </p:txBody>
      </p:sp>
    </p:spTree>
    <p:extLst>
      <p:ext uri="{BB962C8B-B14F-4D97-AF65-F5344CB8AC3E}">
        <p14:creationId xmlns:p14="http://schemas.microsoft.com/office/powerpoint/2010/main" val="2736444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D0CA-8B05-C705-7151-8442CC811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EF8A7-5A94-50D2-EA01-520634001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4A4CE-C7C8-4BC9-24A3-9D345FA99B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BD91009-B3B9-8A8C-FCB3-321F4CB5D4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6370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2CFF-08B0-5CD0-F0DA-3F359E5C9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B9567-CAF6-54EF-CE76-3ED470E9D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252A3-0C59-9367-FA0F-7EA4B742AA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935A07E-2F6F-52AD-4E4B-9D4399282E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2045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1948-F837-DB44-25E0-ED1469791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01736-A865-D4E5-5391-869D08943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E9924-9839-BE6B-DECD-FAA8FAFCB7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D774DA0-E16B-553B-BC88-A2678B41A6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450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F9E0-62DB-BA94-1985-91CD4B09E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600C8-E5FD-EA33-6700-2BB16D5E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CB478-DCBB-5AA4-3986-9321E7CCF6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9570E47-4520-5D16-CE5C-E4CA757697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909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129F4-9942-C173-6ADE-4B7D53E51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B3A3E-D5BE-D916-7997-ED49330FF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A3C62-EC13-2AA2-39EB-65CDD8567D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536A768-501E-50B2-4C05-F95982111F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5255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3686-FA86-9260-7A8E-157F1D171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8BB34-A5CD-3586-D0C7-97C4002B7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8A9581-6CC1-623D-48FA-D1008674E4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80EED9F-ECA2-5FBA-7BB8-B35606D3DE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740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5421-B7CD-64ED-8D92-EAC351F24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4440F-849E-CBA9-A1B1-EC0C385A9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82B0E-3C47-8EBA-04C1-B31D6B7CEA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B022DA-B7B9-C1A2-FE1C-56F02A17E3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0412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53E57-E3AB-776E-5023-1BD0714BE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757E7-0916-AD59-2D5B-6669ED78A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77EE3-4C19-97AF-23F6-2C3124058F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8333315-8F6F-13E8-9480-26C5CA8168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0449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3591-11AD-E7D9-81F9-B60A26442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8340F-902C-AB17-29B4-016AD1948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8BE35-8E2A-6DFE-2A8A-92BDA9AEB4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1y67FBfootRYlSlj4LcBrmp5BMq5XJ -&gt; password for the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https://theevidencelocker.github.io/ -&gt; 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6552D53-4A1E-6394-2BB1-BDD68D8611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4564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DE6-F816-DE99-9DC8-00958082F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9A622-2AF2-CB91-0C46-53D358940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94BB4-086D-10E0-029C-38C6747AD0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89A04A3-461A-E740-789C-1B8592C73C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047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EE6E-6767-40E1-8245-685D010B1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6D4D0-8348-6D54-D067-7F909D782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AAFBA-86A1-2761-384F-CB923F5FD2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MJSWY23BONXWM5DDORTEAMRQGIZA==== -&gt; password for the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https://theevidencelocker.github.io/ -&gt; source</a:t>
            </a:r>
          </a:p>
        </p:txBody>
      </p:sp>
      <p:sp>
        <p:nvSpPr>
          <p:cNvPr id="4" name="Slide Number Placeholder 3">
            <a:extLst>
              <a:ext uri="{FF2B5EF4-FFF2-40B4-BE49-F238E27FC236}">
                <a16:creationId xmlns:a16="http://schemas.microsoft.com/office/drawing/2014/main" id="{EB23955E-B3FB-F6FD-3F06-B08577F662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7714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B58F-984C-BCB3-5C34-6D7FAF8D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3657B-A0BA-5E6C-FD5C-90F85836F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1D7B7-6C47-BE96-6FDB-967CB15AD3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21E2BCA-3712-815D-8AA9-050D78E9D8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7802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7BF4-788D-BCD3-BD0E-D62DCE76F5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F1F159-10A5-51F5-2AF1-EC9B07BEF6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05C14A-AF82-E019-45BC-AC836FF7AAF6}"/>
              </a:ext>
            </a:extLst>
          </p:cNvPr>
          <p:cNvSpPr>
            <a:spLocks noGrp="1"/>
          </p:cNvSpPr>
          <p:nvPr>
            <p:ph type="dt" sz="half" idx="10"/>
          </p:nvPr>
        </p:nvSpPr>
        <p:spPr/>
        <p:txBody>
          <a:bodyPr/>
          <a:lstStyle/>
          <a:p>
            <a:fld id="{3EA3C770-FE8A-4D5C-AAD7-BBBA99231AC1}" type="datetime1">
              <a:rPr lang="en-US" smtClean="0"/>
              <a:t>3/17/2026</a:t>
            </a:fld>
            <a:endParaRPr lang="en-US"/>
          </a:p>
        </p:txBody>
      </p:sp>
      <p:sp>
        <p:nvSpPr>
          <p:cNvPr id="5" name="Footer Placeholder 4">
            <a:extLst>
              <a:ext uri="{FF2B5EF4-FFF2-40B4-BE49-F238E27FC236}">
                <a16:creationId xmlns:a16="http://schemas.microsoft.com/office/drawing/2014/main" id="{E5DA72BE-7E22-0BFA-0B50-E01AAE1F1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26593-D489-1E67-272F-7DBA19809D69}"/>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4035992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B248-DA63-C5A9-67C6-405F356B6E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CBBE89-EBFD-8FB2-D9DD-13F07B03C2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9A5EC-0C8C-0DA7-1F99-74CF10D450DE}"/>
              </a:ext>
            </a:extLst>
          </p:cNvPr>
          <p:cNvSpPr>
            <a:spLocks noGrp="1"/>
          </p:cNvSpPr>
          <p:nvPr>
            <p:ph type="dt" sz="half" idx="10"/>
          </p:nvPr>
        </p:nvSpPr>
        <p:spPr/>
        <p:txBody>
          <a:bodyPr/>
          <a:lstStyle/>
          <a:p>
            <a:fld id="{BC3C86BC-F22F-473C-9246-02D0F46EA505}" type="datetime1">
              <a:rPr lang="en-US" smtClean="0"/>
              <a:t>3/17/2026</a:t>
            </a:fld>
            <a:endParaRPr lang="en-US"/>
          </a:p>
        </p:txBody>
      </p:sp>
      <p:sp>
        <p:nvSpPr>
          <p:cNvPr id="5" name="Footer Placeholder 4">
            <a:extLst>
              <a:ext uri="{FF2B5EF4-FFF2-40B4-BE49-F238E27FC236}">
                <a16:creationId xmlns:a16="http://schemas.microsoft.com/office/drawing/2014/main" id="{75EBE397-8A1C-64D7-5634-779E10F42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42439-35BC-EB1F-4894-3D0B4B5BBAE8}"/>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2597762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69E39-9AD5-1BE2-B23D-777902D220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3E8806-D4EF-14F2-FE0B-2F8331D154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22F4F7-DE0C-77FC-F1A0-2C89626F953E}"/>
              </a:ext>
            </a:extLst>
          </p:cNvPr>
          <p:cNvSpPr>
            <a:spLocks noGrp="1"/>
          </p:cNvSpPr>
          <p:nvPr>
            <p:ph type="dt" sz="half" idx="10"/>
          </p:nvPr>
        </p:nvSpPr>
        <p:spPr/>
        <p:txBody>
          <a:bodyPr/>
          <a:lstStyle/>
          <a:p>
            <a:fld id="{CE0FC89E-F72B-4896-AE1D-55BE3C662DBB}" type="datetime1">
              <a:rPr lang="en-US" smtClean="0"/>
              <a:t>3/17/2026</a:t>
            </a:fld>
            <a:endParaRPr lang="en-US"/>
          </a:p>
        </p:txBody>
      </p:sp>
      <p:sp>
        <p:nvSpPr>
          <p:cNvPr id="5" name="Footer Placeholder 4">
            <a:extLst>
              <a:ext uri="{FF2B5EF4-FFF2-40B4-BE49-F238E27FC236}">
                <a16:creationId xmlns:a16="http://schemas.microsoft.com/office/drawing/2014/main" id="{450A172A-BB57-A76B-BC83-BB3F0693A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652D4-B909-BE36-4C85-8668E13BCCA9}"/>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4060539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40C6-F058-51EF-0866-D35D836322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E8B7B6-2441-C684-00C9-3289E05C6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A150C2-3CEF-2B1F-D76E-3D02F5EC02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C3ADBC-013A-3B27-2B85-E54F234B2FB1}"/>
              </a:ext>
            </a:extLst>
          </p:cNvPr>
          <p:cNvSpPr>
            <a:spLocks noGrp="1"/>
          </p:cNvSpPr>
          <p:nvPr>
            <p:ph type="dt" sz="half" idx="10"/>
          </p:nvPr>
        </p:nvSpPr>
        <p:spPr/>
        <p:txBody>
          <a:bodyPr/>
          <a:lstStyle/>
          <a:p>
            <a:fld id="{630AB87F-7C6A-4CA1-90E4-9C346F1E6799}" type="datetime1">
              <a:rPr lang="en-US" smtClean="0"/>
              <a:t>3/17/2026</a:t>
            </a:fld>
            <a:endParaRPr lang="en-US"/>
          </a:p>
        </p:txBody>
      </p:sp>
      <p:sp>
        <p:nvSpPr>
          <p:cNvPr id="6" name="Footer Placeholder 5">
            <a:extLst>
              <a:ext uri="{FF2B5EF4-FFF2-40B4-BE49-F238E27FC236}">
                <a16:creationId xmlns:a16="http://schemas.microsoft.com/office/drawing/2014/main" id="{BE4DBE80-6322-839E-7A19-C4B6058BF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37CCA-9183-73EA-FD5B-A81E755256C1}"/>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954675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41FE0-14B9-AA38-773F-FF203A2ACD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52A784-4CBF-0C22-D2B4-F99E91AFFD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AD1FF8-F6C1-6C4A-B67B-BA85A07DDC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A8171C-7FD6-A660-AC81-160928212D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E0A2C-AE4E-EF0F-4145-999B160D27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F99D98-3FCC-B77A-6E16-88A6D1E1584B}"/>
              </a:ext>
            </a:extLst>
          </p:cNvPr>
          <p:cNvSpPr>
            <a:spLocks noGrp="1"/>
          </p:cNvSpPr>
          <p:nvPr>
            <p:ph type="dt" sz="half" idx="10"/>
          </p:nvPr>
        </p:nvSpPr>
        <p:spPr/>
        <p:txBody>
          <a:bodyPr/>
          <a:lstStyle/>
          <a:p>
            <a:fld id="{13D2C1FF-CDD0-4878-A6BD-A4A3C8FAC08D}" type="datetime1">
              <a:rPr lang="en-US" smtClean="0"/>
              <a:t>3/17/2026</a:t>
            </a:fld>
            <a:endParaRPr lang="en-US"/>
          </a:p>
        </p:txBody>
      </p:sp>
      <p:sp>
        <p:nvSpPr>
          <p:cNvPr id="8" name="Footer Placeholder 7">
            <a:extLst>
              <a:ext uri="{FF2B5EF4-FFF2-40B4-BE49-F238E27FC236}">
                <a16:creationId xmlns:a16="http://schemas.microsoft.com/office/drawing/2014/main" id="{5A30CF56-3844-808B-FA96-77E524C933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647424-D60E-D7B0-5578-3BC30A769BF7}"/>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2397881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BD713-2E47-0564-68C4-34BB72D307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578FE1-3026-DA11-CB28-A9634D0B9D8E}"/>
              </a:ext>
            </a:extLst>
          </p:cNvPr>
          <p:cNvSpPr>
            <a:spLocks noGrp="1"/>
          </p:cNvSpPr>
          <p:nvPr>
            <p:ph type="dt" sz="half" idx="10"/>
          </p:nvPr>
        </p:nvSpPr>
        <p:spPr/>
        <p:txBody>
          <a:bodyPr/>
          <a:lstStyle/>
          <a:p>
            <a:fld id="{3A945EF7-94D5-46B4-B356-2E1A51D543C4}" type="datetime1">
              <a:rPr lang="en-US" smtClean="0"/>
              <a:t>3/17/2026</a:t>
            </a:fld>
            <a:endParaRPr lang="en-US"/>
          </a:p>
        </p:txBody>
      </p:sp>
      <p:sp>
        <p:nvSpPr>
          <p:cNvPr id="4" name="Footer Placeholder 3">
            <a:extLst>
              <a:ext uri="{FF2B5EF4-FFF2-40B4-BE49-F238E27FC236}">
                <a16:creationId xmlns:a16="http://schemas.microsoft.com/office/drawing/2014/main" id="{F4EED454-665B-19A4-EF7A-30D8732975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B4BC51-CA59-A634-C3BB-2E9B215FB049}"/>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3392535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3F09B5-BBB6-C09C-DD85-D6C498CCDF71}"/>
              </a:ext>
            </a:extLst>
          </p:cNvPr>
          <p:cNvSpPr>
            <a:spLocks noGrp="1"/>
          </p:cNvSpPr>
          <p:nvPr>
            <p:ph type="dt" sz="half" idx="10"/>
          </p:nvPr>
        </p:nvSpPr>
        <p:spPr/>
        <p:txBody>
          <a:bodyPr/>
          <a:lstStyle/>
          <a:p>
            <a:fld id="{8FC5D98D-2741-4773-BFD9-D75ECF73136F}" type="datetime1">
              <a:rPr lang="en-US" smtClean="0"/>
              <a:t>3/17/2026</a:t>
            </a:fld>
            <a:endParaRPr lang="en-US"/>
          </a:p>
        </p:txBody>
      </p:sp>
      <p:sp>
        <p:nvSpPr>
          <p:cNvPr id="3" name="Footer Placeholder 2">
            <a:extLst>
              <a:ext uri="{FF2B5EF4-FFF2-40B4-BE49-F238E27FC236}">
                <a16:creationId xmlns:a16="http://schemas.microsoft.com/office/drawing/2014/main" id="{C67024BB-3516-1642-F1AF-318DD30BF9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B76BC6-8817-6F6E-8D51-C097CF133522}"/>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353301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D56F-AE24-2E74-F552-58038696C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105C62-4CFF-E1BC-C94A-F3ABD5A40B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225D18-6762-6FC7-939E-91C3C5E47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94A4E-4182-06ED-25B2-21C6B6D5754A}"/>
              </a:ext>
            </a:extLst>
          </p:cNvPr>
          <p:cNvSpPr>
            <a:spLocks noGrp="1"/>
          </p:cNvSpPr>
          <p:nvPr>
            <p:ph type="dt" sz="half" idx="10"/>
          </p:nvPr>
        </p:nvSpPr>
        <p:spPr/>
        <p:txBody>
          <a:bodyPr/>
          <a:lstStyle/>
          <a:p>
            <a:fld id="{E2D76E73-2083-437B-90F9-E6F70A1DF249}" type="datetime1">
              <a:rPr lang="en-US" smtClean="0"/>
              <a:t>3/17/2026</a:t>
            </a:fld>
            <a:endParaRPr lang="en-US"/>
          </a:p>
        </p:txBody>
      </p:sp>
      <p:sp>
        <p:nvSpPr>
          <p:cNvPr id="6" name="Footer Placeholder 5">
            <a:extLst>
              <a:ext uri="{FF2B5EF4-FFF2-40B4-BE49-F238E27FC236}">
                <a16:creationId xmlns:a16="http://schemas.microsoft.com/office/drawing/2014/main" id="{E7A8D23C-1A61-47D6-1E95-31B65E3DF1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FEB36-7185-1227-3FB2-EA0F33E8ACC7}"/>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147391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85DB-B27D-0C65-2B5E-80EC0DCF24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2B87E9-A904-952B-52A9-D34C2A8765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2DB705-9719-F20E-A011-BC0EDFCDC6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36B85-7D8A-9339-0AE4-961813260356}"/>
              </a:ext>
            </a:extLst>
          </p:cNvPr>
          <p:cNvSpPr>
            <a:spLocks noGrp="1"/>
          </p:cNvSpPr>
          <p:nvPr>
            <p:ph type="dt" sz="half" idx="10"/>
          </p:nvPr>
        </p:nvSpPr>
        <p:spPr/>
        <p:txBody>
          <a:bodyPr/>
          <a:lstStyle/>
          <a:p>
            <a:fld id="{5AF002CC-F157-416F-B73A-FE18EC1F7070}" type="datetime1">
              <a:rPr lang="en-US" smtClean="0"/>
              <a:t>3/17/2026</a:t>
            </a:fld>
            <a:endParaRPr lang="en-US"/>
          </a:p>
        </p:txBody>
      </p:sp>
      <p:sp>
        <p:nvSpPr>
          <p:cNvPr id="6" name="Footer Placeholder 5">
            <a:extLst>
              <a:ext uri="{FF2B5EF4-FFF2-40B4-BE49-F238E27FC236}">
                <a16:creationId xmlns:a16="http://schemas.microsoft.com/office/drawing/2014/main" id="{C234F6A2-E816-BE56-0242-9E1A6948A9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7039B-67C7-C4CA-55FF-E87A3A5DAE87}"/>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94059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7B5A-1ECF-12C1-1267-384495038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E7C00E-402F-43D2-4BB5-3E6F9F9E39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854325-E2C5-AFF2-C49B-9566404F480A}"/>
              </a:ext>
            </a:extLst>
          </p:cNvPr>
          <p:cNvSpPr>
            <a:spLocks noGrp="1"/>
          </p:cNvSpPr>
          <p:nvPr>
            <p:ph type="dt" sz="half" idx="10"/>
          </p:nvPr>
        </p:nvSpPr>
        <p:spPr/>
        <p:txBody>
          <a:bodyPr/>
          <a:lstStyle/>
          <a:p>
            <a:fld id="{A15C42E9-C1E4-4E16-82F8-3CDCEA11E3EB}" type="datetime1">
              <a:rPr lang="en-US" smtClean="0"/>
              <a:t>3/17/2026</a:t>
            </a:fld>
            <a:endParaRPr lang="en-US"/>
          </a:p>
        </p:txBody>
      </p:sp>
      <p:sp>
        <p:nvSpPr>
          <p:cNvPr id="5" name="Footer Placeholder 4">
            <a:extLst>
              <a:ext uri="{FF2B5EF4-FFF2-40B4-BE49-F238E27FC236}">
                <a16:creationId xmlns:a16="http://schemas.microsoft.com/office/drawing/2014/main" id="{5A65E4F6-A9F5-0B11-672D-6E10DF683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7417E-C213-53F0-C5AC-92E6B394AF07}"/>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53102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5532F2-A240-8F94-0DF5-E1405D9C38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FDE1B9-F1B8-6088-FAC5-3096B831D3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43A83C-0A12-3E42-D0B7-05834DC984A9}"/>
              </a:ext>
            </a:extLst>
          </p:cNvPr>
          <p:cNvSpPr>
            <a:spLocks noGrp="1"/>
          </p:cNvSpPr>
          <p:nvPr>
            <p:ph type="dt" sz="half" idx="10"/>
          </p:nvPr>
        </p:nvSpPr>
        <p:spPr/>
        <p:txBody>
          <a:bodyPr/>
          <a:lstStyle/>
          <a:p>
            <a:fld id="{A549D0CB-5FA6-4BDE-B7A7-C68424C75F76}" type="datetime1">
              <a:rPr lang="en-US" smtClean="0"/>
              <a:t>3/17/2026</a:t>
            </a:fld>
            <a:endParaRPr lang="en-US"/>
          </a:p>
        </p:txBody>
      </p:sp>
      <p:sp>
        <p:nvSpPr>
          <p:cNvPr id="5" name="Footer Placeholder 4">
            <a:extLst>
              <a:ext uri="{FF2B5EF4-FFF2-40B4-BE49-F238E27FC236}">
                <a16:creationId xmlns:a16="http://schemas.microsoft.com/office/drawing/2014/main" id="{07FB3C7F-73C0-F56B-7220-299FE752AA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5D0D0-D7D2-F833-F408-8C2E1042E2D8}"/>
              </a:ext>
            </a:extLst>
          </p:cNvPr>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067886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CD31DF-5135-2C45-5676-9508F40363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9F8AB6-9B8A-2806-245D-8007AE2416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DE0DA-7C9F-D7A7-FDD5-B95D49693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508B80-4E64-4925-8BAA-E04FCDFB48C5}" type="datetime1">
              <a:rPr lang="en-US" smtClean="0"/>
              <a:t>3/17/2026</a:t>
            </a:fld>
            <a:endParaRPr lang="en-US"/>
          </a:p>
        </p:txBody>
      </p:sp>
      <p:sp>
        <p:nvSpPr>
          <p:cNvPr id="5" name="Footer Placeholder 4">
            <a:extLst>
              <a:ext uri="{FF2B5EF4-FFF2-40B4-BE49-F238E27FC236}">
                <a16:creationId xmlns:a16="http://schemas.microsoft.com/office/drawing/2014/main" id="{83840C18-42E5-CE30-755F-23D1429C82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880070-CEAA-F8C5-BF6F-FCC684F79A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5EB417-4EC6-40A3-8089-FFEE676A186A}" type="slidenum">
              <a:rPr lang="en-US" smtClean="0"/>
              <a:t>‹#›</a:t>
            </a:fld>
            <a:endParaRPr lang="en-US"/>
          </a:p>
        </p:txBody>
      </p:sp>
    </p:spTree>
    <p:extLst>
      <p:ext uri="{BB962C8B-B14F-4D97-AF65-F5344CB8AC3E}">
        <p14:creationId xmlns:p14="http://schemas.microsoft.com/office/powerpoint/2010/main" val="1966703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5FDF-8B53-DD70-4754-493737612C7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B3271A-B94F-EA71-60A4-243C2038A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C1BF5CE-058F-9342-0F95-A423633EA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39D050AD-0775-8FDC-7907-42FF443AD7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1069DCFF-52C1-B212-0798-EAE2A8DB3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308488F8-A52C-9D54-C3A6-D006A2F99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C98412F-A04F-662D-03E3-F76C8339D8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321CDE07-4036-EE4D-E790-F2930AD50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E5D3B6A0-3874-8D22-97FC-4FC0F3322E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796BAFF3-29D8-157D-BE24-C99308BD0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F1E27F0D-733E-E2DE-0757-A87DE381CB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0063EAED-1E1B-F746-4FF7-3ED6A6916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7A766A61-8908-8208-598F-563C37CC4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A597BB79-7357-86DD-A850-949280D1270F}"/>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5CF50C82-6F84-1A05-9FFD-79597B6EDF84}"/>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Assignment</a:t>
            </a:r>
          </a:p>
        </p:txBody>
      </p:sp>
      <p:sp>
        <p:nvSpPr>
          <p:cNvPr id="3" name="Content Placeholder 2">
            <a:extLst>
              <a:ext uri="{FF2B5EF4-FFF2-40B4-BE49-F238E27FC236}">
                <a16:creationId xmlns:a16="http://schemas.microsoft.com/office/drawing/2014/main" id="{250ABD1B-792C-7A92-CFF7-F55F2B0A5B5D}"/>
              </a:ext>
            </a:extLst>
          </p:cNvPr>
          <p:cNvSpPr>
            <a:spLocks noGrp="1"/>
          </p:cNvSpPr>
          <p:nvPr>
            <p:ph idx="1"/>
          </p:nvPr>
        </p:nvSpPr>
        <p:spPr/>
        <p:txBody>
          <a:bodyPr>
            <a:noAutofit/>
          </a:bodyPr>
          <a:lstStyle/>
          <a:p>
            <a:pPr algn="just"/>
            <a:r>
              <a:rPr lang="en-US" sz="1800" dirty="0"/>
              <a:t>Your team has been tasked to go on-site to attend a cyber incident. Due to the seriousness of the incident, analysis must be performed on-site in your prepared </a:t>
            </a:r>
            <a:r>
              <a:rPr lang="en-US" sz="1800" b="1" dirty="0"/>
              <a:t>Digital Forensic Investigation Environment</a:t>
            </a:r>
            <a:r>
              <a:rPr lang="en-US" sz="1800" dirty="0"/>
              <a:t>. </a:t>
            </a:r>
          </a:p>
          <a:p>
            <a:pPr algn="just"/>
            <a:r>
              <a:rPr lang="en-US" sz="1800" dirty="0"/>
              <a:t>Hence, you must:</a:t>
            </a:r>
          </a:p>
          <a:p>
            <a:pPr marL="800100" lvl="1" indent="-342900" algn="just">
              <a:buFont typeface="+mj-lt"/>
              <a:buAutoNum type="arabicPeriod"/>
            </a:pPr>
            <a:r>
              <a:rPr lang="en-US" sz="1800" dirty="0"/>
              <a:t>Design your investigation strategy</a:t>
            </a:r>
            <a:endParaRPr lang="en-US" sz="1400" dirty="0"/>
          </a:p>
          <a:p>
            <a:pPr marL="800100" lvl="1" indent="-342900" algn="just">
              <a:buFont typeface="+mj-lt"/>
              <a:buAutoNum type="arabicPeriod"/>
            </a:pPr>
            <a:r>
              <a:rPr lang="en-US" sz="1800" dirty="0"/>
              <a:t>Build your forensic virtual environment </a:t>
            </a:r>
          </a:p>
          <a:p>
            <a:pPr marL="800100" lvl="1" indent="-342900" algn="just">
              <a:buFont typeface="+mj-lt"/>
              <a:buAutoNum type="arabicPeriod"/>
            </a:pPr>
            <a:r>
              <a:rPr lang="en-US" sz="1800" dirty="0"/>
              <a:t>Justify your tool selection. Minimally you should have:</a:t>
            </a:r>
          </a:p>
          <a:p>
            <a:pPr lvl="2" algn="just"/>
            <a:r>
              <a:rPr lang="en-SG" sz="1400" dirty="0"/>
              <a:t>A Disk &amp; File System Forensics tool (e.g. FTK Imager)</a:t>
            </a:r>
          </a:p>
          <a:p>
            <a:pPr lvl="2" algn="just"/>
            <a:r>
              <a:rPr lang="en-SG" sz="1400" dirty="0"/>
              <a:t>A Memory Forensics tool (e.g. Vol2/3)</a:t>
            </a:r>
          </a:p>
          <a:p>
            <a:pPr lvl="2" algn="just"/>
            <a:r>
              <a:rPr lang="en-US" sz="1400" dirty="0"/>
              <a:t>A </a:t>
            </a:r>
            <a:r>
              <a:rPr lang="en-SG" sz="1400" dirty="0"/>
              <a:t>Network Forensics tool (e.g. </a:t>
            </a:r>
            <a:r>
              <a:rPr lang="en-SG" sz="1400" dirty="0" err="1"/>
              <a:t>WireShark</a:t>
            </a:r>
            <a:r>
              <a:rPr lang="en-SG" sz="1400" dirty="0"/>
              <a:t>)</a:t>
            </a:r>
            <a:endParaRPr lang="en-US" sz="1400" dirty="0"/>
          </a:p>
          <a:p>
            <a:pPr marL="800100" lvl="1" indent="-342900" algn="just">
              <a:buFont typeface="+mj-lt"/>
              <a:buAutoNum type="arabicPeriod"/>
            </a:pPr>
            <a:r>
              <a:rPr lang="en-US" sz="1800" dirty="0"/>
              <a:t>Demonstrate how those tools could be used</a:t>
            </a:r>
          </a:p>
          <a:p>
            <a:pPr marL="800100" lvl="1" indent="-342900" algn="just">
              <a:buFont typeface="+mj-lt"/>
              <a:buAutoNum type="arabicPeriod"/>
            </a:pPr>
            <a:r>
              <a:rPr lang="en-US" sz="1800" dirty="0"/>
              <a:t>Prepare to demonstrate readiness for a simulated investigation</a:t>
            </a:r>
          </a:p>
          <a:p>
            <a:pPr algn="just"/>
            <a:r>
              <a:rPr lang="en-US" sz="1800" dirty="0"/>
              <a:t>Deliverable by 26 Mar 26 in either PowerPoint slides or Word document, after the end of the exercise.</a:t>
            </a:r>
          </a:p>
        </p:txBody>
      </p:sp>
    </p:spTree>
    <p:extLst>
      <p:ext uri="{BB962C8B-B14F-4D97-AF65-F5344CB8AC3E}">
        <p14:creationId xmlns:p14="http://schemas.microsoft.com/office/powerpoint/2010/main" val="166777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F36F4D-AAC3-5136-1F95-58AA947FB5C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0BCE3A-7A67-E5A3-31CC-D7048A33D7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FC9AFDBD-D7B2-F68C-9E49-4526374A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62609CCA-A31B-FA11-F696-13466CEF1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8BCBCC1D-C670-1019-A3FE-91335762AB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C40FE5DB-5F09-59DD-00B2-976250C23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3D57B536-5CA5-EB65-351B-F0CAFEBA8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C0C15928-21B6-1A5A-1471-244B364AB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9F24CFAF-C1BB-2C32-E0DD-F7ACA57838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0F6ECFA5-2DD2-6D50-FBC4-6671F9ED7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189BB7E8-06EB-D7E3-3A78-A46DDCA41D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4A7C666D-1671-1CCA-2514-484FAEEA6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BF548255-328A-1A48-8F76-352EA4690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903B0E4F-5710-3A7A-1BC0-86CD900ADC2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2D5251F7-BA77-1113-C54F-E71CBC0D534E}"/>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Cyber Exercises</a:t>
            </a:r>
          </a:p>
        </p:txBody>
      </p:sp>
      <p:sp>
        <p:nvSpPr>
          <p:cNvPr id="3" name="Content Placeholder 2">
            <a:extLst>
              <a:ext uri="{FF2B5EF4-FFF2-40B4-BE49-F238E27FC236}">
                <a16:creationId xmlns:a16="http://schemas.microsoft.com/office/drawing/2014/main" id="{A3E1FEA9-850A-12E8-D616-92CBC4451A98}"/>
              </a:ext>
            </a:extLst>
          </p:cNvPr>
          <p:cNvSpPr>
            <a:spLocks noGrp="1"/>
          </p:cNvSpPr>
          <p:nvPr>
            <p:ph idx="1"/>
          </p:nvPr>
        </p:nvSpPr>
        <p:spPr/>
        <p:txBody>
          <a:bodyPr>
            <a:noAutofit/>
          </a:bodyPr>
          <a:lstStyle/>
          <a:p>
            <a:pPr algn="just"/>
            <a:r>
              <a:rPr lang="en-US" sz="1800" dirty="0"/>
              <a:t>Duration: 4 hours</a:t>
            </a:r>
          </a:p>
          <a:p>
            <a:pPr algn="just"/>
            <a:r>
              <a:rPr lang="en-US" sz="1800" dirty="0"/>
              <a:t>Objectives:</a:t>
            </a:r>
          </a:p>
          <a:p>
            <a:pPr marL="457200" lvl="1" indent="0" algn="just">
              <a:buNone/>
            </a:pPr>
            <a:r>
              <a:rPr lang="en-US" sz="1800" dirty="0"/>
              <a:t>To enable students  to analyze  forensic artifacts to determine the attribution of a cyber operation and evaluate if the digital evidence meets the evidentiary standards required to ascertain the investigation.</a:t>
            </a:r>
          </a:p>
          <a:p>
            <a:pPr algn="just"/>
            <a:r>
              <a:rPr lang="en-US" sz="1800" dirty="0"/>
              <a:t>Resources: </a:t>
            </a:r>
          </a:p>
          <a:p>
            <a:pPr lvl="1" algn="just"/>
            <a:r>
              <a:rPr lang="en-US" sz="1800" dirty="0"/>
              <a:t>Pre-built forensic environment done as part of the assignment</a:t>
            </a:r>
          </a:p>
          <a:p>
            <a:pPr lvl="1" algn="just"/>
            <a:r>
              <a:rPr lang="en-US" sz="1800" dirty="0"/>
              <a:t>Windows OS with at least 8GB RAM (16GB+ recommended)</a:t>
            </a:r>
          </a:p>
          <a:p>
            <a:pPr algn="just"/>
            <a:r>
              <a:rPr lang="en-US" sz="1800" dirty="0"/>
              <a:t>Group work – 3 pax/ team [3 teams in total]</a:t>
            </a:r>
          </a:p>
          <a:p>
            <a:pPr algn="just"/>
            <a:r>
              <a:rPr lang="en-US" sz="1800" dirty="0"/>
              <a:t>Each team to choose three exercises that their team would like to work on (1 from each type)</a:t>
            </a:r>
          </a:p>
          <a:p>
            <a:pPr algn="just"/>
            <a:r>
              <a:rPr lang="en-US" sz="1800" dirty="0"/>
              <a:t>Deliverable – Presentation [15 mins/ group]</a:t>
            </a:r>
          </a:p>
        </p:txBody>
      </p:sp>
    </p:spTree>
    <p:extLst>
      <p:ext uri="{BB962C8B-B14F-4D97-AF65-F5344CB8AC3E}">
        <p14:creationId xmlns:p14="http://schemas.microsoft.com/office/powerpoint/2010/main" val="105742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EACF09-1031-3450-9E68-5E18944BD79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46E8EB-F934-4861-B378-85FF5283D0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A6BAD69A-4C44-5C12-120C-41F9AD08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DB29AF77-4E38-F1B6-E7BF-FF3E2D45E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3F16C555-9C96-7A12-856D-4D550BBF4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FB036B29-1546-578C-D58D-B67BA3B56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B1225F65-8CC6-A0D5-D6D7-EA60323B7A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8E3C682E-0CBF-4185-F10E-8BD1C82C1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AB78B69A-DB56-5B15-E0B9-35E0953185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F6C6A66A-F252-9E8D-B1E3-2BEA99AA0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1DCCEAFC-73E1-44EF-C673-D149B2806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34F5347B-729B-28F3-CB1C-8D2023038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8342DF8C-03B5-C2C9-472A-2304776069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ED3C7C75-4EED-1DD6-C4BB-DDE368E84DE2}"/>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FD737168-96D0-8B88-BA2A-EBC0311FC470}"/>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(A)</a:t>
            </a:r>
          </a:p>
        </p:txBody>
      </p:sp>
      <p:sp>
        <p:nvSpPr>
          <p:cNvPr id="3" name="Content Placeholder 2">
            <a:extLst>
              <a:ext uri="{FF2B5EF4-FFF2-40B4-BE49-F238E27FC236}">
                <a16:creationId xmlns:a16="http://schemas.microsoft.com/office/drawing/2014/main" id="{46472756-6B92-2043-0665-A2B3A5345BF9}"/>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malicious Word document that can be extracted from this PCAP. Find the name and search it online to see what it does! DON’T open it on your own host…</a:t>
            </a:r>
          </a:p>
          <a:p>
            <a:pPr algn="just"/>
            <a:r>
              <a:rPr lang="en-US" sz="1800" dirty="0"/>
              <a:t>Evidence:</a:t>
            </a:r>
          </a:p>
          <a:p>
            <a:pPr lvl="1" algn="just"/>
            <a:r>
              <a:rPr lang="en-US" sz="1800" dirty="0"/>
              <a:t>NetworkEx_1.PCAP</a:t>
            </a:r>
          </a:p>
        </p:txBody>
      </p:sp>
    </p:spTree>
    <p:extLst>
      <p:ext uri="{BB962C8B-B14F-4D97-AF65-F5344CB8AC3E}">
        <p14:creationId xmlns:p14="http://schemas.microsoft.com/office/powerpoint/2010/main" val="362402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7989B5-0888-B4B9-7505-22026699D69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5D13CE-6D2C-7F98-672F-B6C5276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A573603E-1602-0D8B-95F8-4E331D431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1732C478-3849-9EE4-EE34-52264FADF0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7BE0DB04-2776-A997-DFBF-3C5DE9E0BF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D1D70E73-A4AA-1AB5-760B-71488789B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A93D7EC8-F47F-06FD-4541-CBD43AEE5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248897F0-E643-D69C-1FED-6BC7EACD9D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6183B62A-F1C0-0D84-B3A9-111FC373CE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56C2AD22-6831-BB66-2313-5A188F672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3A7B946F-CE07-EE11-DF14-6B7D0CA8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2BABDBD9-C535-BAC6-1454-4A13D5955A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FC643104-B9B7-DE96-A84A-A55CCFA7A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BDEC7CC2-1E50-B119-C3E6-44C4ACE0FC3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6ABCEB9E-26D0-334A-25E4-26EC999F5C3B}"/>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(B)</a:t>
            </a:r>
          </a:p>
        </p:txBody>
      </p:sp>
      <p:sp>
        <p:nvSpPr>
          <p:cNvPr id="3" name="Content Placeholder 2">
            <a:extLst>
              <a:ext uri="{FF2B5EF4-FFF2-40B4-BE49-F238E27FC236}">
                <a16:creationId xmlns:a16="http://schemas.microsoft.com/office/drawing/2014/main" id="{9C2DD5CA-7C5D-26CB-29CB-6D1B8C94F6AA}"/>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Base64 encoded PowerShell script, decode it and find out what it does!</a:t>
            </a:r>
          </a:p>
          <a:p>
            <a:pPr algn="just"/>
            <a:r>
              <a:rPr lang="en-US" sz="1800" dirty="0"/>
              <a:t>Evidence:</a:t>
            </a:r>
          </a:p>
          <a:p>
            <a:pPr lvl="1" algn="just"/>
            <a:r>
              <a:rPr lang="en-US" sz="1800" dirty="0" err="1"/>
              <a:t>NetworkEx_B.PCAP</a:t>
            </a:r>
            <a:endParaRPr lang="en-US" sz="1800" dirty="0"/>
          </a:p>
        </p:txBody>
      </p:sp>
    </p:spTree>
    <p:extLst>
      <p:ext uri="{BB962C8B-B14F-4D97-AF65-F5344CB8AC3E}">
        <p14:creationId xmlns:p14="http://schemas.microsoft.com/office/powerpoint/2010/main" val="957982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6C7D37-2505-8DF5-E872-B1135613068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6658F-D7E5-F951-4285-BCDCE422A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0032E8EB-C438-88D1-AE96-A66644A1D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1331A18E-14A1-3D44-C3AB-65FB6BF685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E655B4E8-40B6-F8CB-0D91-C592AE5E9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3DC81679-5050-E0C5-DA6E-77EF2DC9F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68067E0B-9330-6456-8366-34C75888C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3477247A-8CDB-ED8F-A8A5-434A5F0D2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B79515A4-9158-5702-BF59-B2170EBF1A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97E4DCD4-B941-D6BE-FB4C-F1337A7DB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1936FF23-57A2-B15B-3611-ABCF1CA9D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C384989C-FE19-5F56-F1F2-2CDF5903DD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D66EF3A0-22B1-6189-75E9-D42F809EB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856496C6-B371-CE81-211E-9879EA30A466}"/>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2AAD6978-0D18-AE69-BF96-1C4872A9EB13}"/>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(C)</a:t>
            </a:r>
          </a:p>
        </p:txBody>
      </p:sp>
      <p:sp>
        <p:nvSpPr>
          <p:cNvPr id="3" name="Content Placeholder 2">
            <a:extLst>
              <a:ext uri="{FF2B5EF4-FFF2-40B4-BE49-F238E27FC236}">
                <a16:creationId xmlns:a16="http://schemas.microsoft.com/office/drawing/2014/main" id="{DCFFF44B-A11F-538E-8A67-126A65A1A556}"/>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screenshot sent from the victim to the C2, extract it and see what was sent. (Hint: look for a PNG string in the TCP stream!)</a:t>
            </a:r>
          </a:p>
          <a:p>
            <a:pPr algn="just"/>
            <a:r>
              <a:rPr lang="en-US" sz="1800" dirty="0"/>
              <a:t>Evidence:</a:t>
            </a:r>
          </a:p>
          <a:p>
            <a:pPr lvl="1" algn="just"/>
            <a:r>
              <a:rPr lang="en-US" sz="1800" dirty="0" err="1"/>
              <a:t>NetworkEx_C.PCAP</a:t>
            </a:r>
            <a:endParaRPr lang="en-US" sz="1800" dirty="0"/>
          </a:p>
        </p:txBody>
      </p:sp>
    </p:spTree>
    <p:extLst>
      <p:ext uri="{BB962C8B-B14F-4D97-AF65-F5344CB8AC3E}">
        <p14:creationId xmlns:p14="http://schemas.microsoft.com/office/powerpoint/2010/main" val="44165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3E1F-BA13-77DA-CA50-380B5CA88C4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1602F85-EB4B-1F46-4377-951B833FA6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EB863498-2742-97CC-1CAF-65E6A27AC3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1D0C10AF-0D63-E555-0FDA-0F0DB327B8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89F920AF-4BF3-3DC9-87E2-8C11A3ADF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2B90FEE7-A13F-418C-02DD-135A1A6C22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005A2A95-5486-2990-1021-2A02ACC84D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C6F5D2EE-77F6-8D50-C528-2B0DF207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A2A2930E-AA45-30D8-F922-AE3AD4E42D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148D5090-6A5C-FE32-5B1A-8B7D729C3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E89716F6-EBAF-36D8-FF69-2876148065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3FB5409E-A468-681D-FAEA-56B9AE81A9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C4FD134F-29FE-52B9-B0C3-9D15C122F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BF1DA6D1-25F6-599B-0CAF-104CB41C1F4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7D2F0942-0AB8-2E31-8F5A-B5E44184FC22}"/>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4B138D8D-DF41-54A3-3216-B55EA0BA70B4}"/>
              </a:ext>
            </a:extLst>
          </p:cNvPr>
          <p:cNvSpPr>
            <a:spLocks noGrp="1"/>
          </p:cNvSpPr>
          <p:nvPr>
            <p:ph idx="1"/>
          </p:nvPr>
        </p:nvSpPr>
        <p:spPr/>
        <p:txBody>
          <a:bodyPr>
            <a:noAutofit/>
          </a:bodyPr>
          <a:lstStyle/>
          <a:p>
            <a:pPr algn="just"/>
            <a:r>
              <a:rPr lang="en-US" sz="1800" dirty="0"/>
              <a:t>Description: </a:t>
            </a:r>
          </a:p>
          <a:p>
            <a:pPr lvl="1" algn="just"/>
            <a:r>
              <a:rPr lang="en-US" sz="1800" dirty="0"/>
              <a:t>A system was infected with “Stuxnet” or similar malware. With the raw RAM dump, find out the processes and code injection to facilitate the investigation. </a:t>
            </a:r>
          </a:p>
          <a:p>
            <a:pPr algn="just"/>
            <a:r>
              <a:rPr lang="en-US" sz="1800" dirty="0"/>
              <a:t>To do:</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Stuxnet.vmem</a:t>
            </a:r>
            <a:endParaRPr lang="en-US" sz="1800" dirty="0"/>
          </a:p>
        </p:txBody>
      </p:sp>
    </p:spTree>
    <p:extLst>
      <p:ext uri="{BB962C8B-B14F-4D97-AF65-F5344CB8AC3E}">
        <p14:creationId xmlns:p14="http://schemas.microsoft.com/office/powerpoint/2010/main" val="343931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9120-3476-D92A-1BB8-D60E26B24C2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2C6FB3-BB69-A250-FB80-636A73435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0C7D6C46-75B1-2662-EAE5-74626142EF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B154F01A-C26B-65CE-C106-CD242D954E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92E83872-66C5-AFBB-436F-FCBEEA0388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337B42B4-66E8-903F-EEE7-CD555F657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B608C970-675A-4D45-DAC9-EC8DA1F77C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DC935741-2B63-7DEB-1569-285DEBACE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6AA23282-C7C7-623E-1172-DCF1F79865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F9584B56-A912-A61E-CC67-FAAD0C76B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EBBDD52A-65D7-1BB2-8EC6-3A681026E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CB86995F-9336-B4C0-CD22-C56696464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42E75AB9-0B7F-819F-F7A1-D36F1266B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C96DC3E7-EBE0-D08B-AA5A-0106EFB5B728}"/>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26EFFBC8-65E8-E331-95A7-A423D33E0FCA}"/>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285E0383-C7C6-CB41-C5F9-731B79FB7DE5}"/>
              </a:ext>
            </a:extLst>
          </p:cNvPr>
          <p:cNvSpPr>
            <a:spLocks noGrp="1"/>
          </p:cNvSpPr>
          <p:nvPr>
            <p:ph idx="1"/>
          </p:nvPr>
        </p:nvSpPr>
        <p:spPr/>
        <p:txBody>
          <a:bodyPr>
            <a:noAutofit/>
          </a:bodyPr>
          <a:lstStyle/>
          <a:p>
            <a:pPr algn="just"/>
            <a:r>
              <a:rPr lang="en-US" sz="1800" dirty="0"/>
              <a:t>Description: </a:t>
            </a:r>
          </a:p>
          <a:p>
            <a:pPr lvl="1" algn="just"/>
            <a:r>
              <a:rPr lang="en-US" sz="1800" dirty="0"/>
              <a:t>A system was infected with “Zeus” or similar malware. With the raw RAM dump, find out the processes and code injection to facilitate the investigation. </a:t>
            </a:r>
          </a:p>
          <a:p>
            <a:pPr algn="just"/>
            <a:r>
              <a:rPr lang="en-US" sz="1800" dirty="0"/>
              <a:t>To do:</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Zeus.vmem</a:t>
            </a:r>
            <a:endParaRPr lang="en-US" sz="1800" dirty="0"/>
          </a:p>
        </p:txBody>
      </p:sp>
    </p:spTree>
    <p:extLst>
      <p:ext uri="{BB962C8B-B14F-4D97-AF65-F5344CB8AC3E}">
        <p14:creationId xmlns:p14="http://schemas.microsoft.com/office/powerpoint/2010/main" val="13971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25E5-4509-110E-34B0-156670661C8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67917B-B5FD-278C-C5CB-832C9F292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9EBA4A5-EFBC-9317-7E6F-44C9C51D1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CDBD4D8D-A38A-4E42-D083-692F8B8E0F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C3FE7301-F267-CFDD-AEFA-7259EEC17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8A6546F2-C1C1-2769-7EBC-5D5B4088E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93C1B8D0-717F-DD56-ECB2-0CBDBFD4E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0107982C-D377-F994-28B0-7980502D85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B62ABC45-BB19-6702-C922-0DCCA4AFE1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AB619595-FFC6-258D-FAC6-0E6AEB922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08528C4E-13CB-8475-4B61-F7B78BD1C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1B9211BC-9FEA-07AE-3BAB-A4462526F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972BB68D-003B-FB8A-9EFE-CBBDA1CEA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1286A23A-E364-4351-CEBD-FA42C54F527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629B224D-BBA7-6B9A-FC9A-159D527940D8}"/>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63EDAC1F-097B-CB79-FD5A-46E4A3D52503}"/>
              </a:ext>
            </a:extLst>
          </p:cNvPr>
          <p:cNvSpPr>
            <a:spLocks noGrp="1"/>
          </p:cNvSpPr>
          <p:nvPr>
            <p:ph idx="1"/>
          </p:nvPr>
        </p:nvSpPr>
        <p:spPr/>
        <p:txBody>
          <a:bodyPr>
            <a:noAutofit/>
          </a:bodyPr>
          <a:lstStyle/>
          <a:p>
            <a:pPr algn="just"/>
            <a:r>
              <a:rPr lang="en-US" sz="1800" dirty="0"/>
              <a:t>Description: </a:t>
            </a:r>
          </a:p>
          <a:p>
            <a:pPr lvl="1" algn="just"/>
            <a:r>
              <a:rPr lang="en-US" sz="1800" dirty="0"/>
              <a:t>A system was infected with “</a:t>
            </a:r>
            <a:r>
              <a:rPr lang="en-US" sz="1800" dirty="0" err="1"/>
              <a:t>Cridex</a:t>
            </a:r>
            <a:r>
              <a:rPr lang="en-US" sz="1800" dirty="0"/>
              <a:t>” or similar malware. With the raw RAM dump, find out the processes and code injection to facilitate the investigation. </a:t>
            </a:r>
          </a:p>
          <a:p>
            <a:pPr algn="just"/>
            <a:r>
              <a:rPr lang="en-US" sz="1800" dirty="0"/>
              <a:t>To do:</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Cridex.vmem</a:t>
            </a:r>
            <a:endParaRPr lang="en-US" sz="1800" dirty="0"/>
          </a:p>
        </p:txBody>
      </p:sp>
    </p:spTree>
    <p:extLst>
      <p:ext uri="{BB962C8B-B14F-4D97-AF65-F5344CB8AC3E}">
        <p14:creationId xmlns:p14="http://schemas.microsoft.com/office/powerpoint/2010/main" val="824552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242D6-AB9C-5340-1861-184127544A6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8157434-FF71-1805-6D23-0496B9ADC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94E5510-1F4C-D355-0DD2-DF24F503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5DD7350E-4E6D-7ABB-07F4-B0282DA04A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15710AA6-1E88-421F-DE97-DADD6937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46A6B256-0693-00D9-9395-16EF5BD8BF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D3F5E7B4-D6A9-2DA1-AEF7-EEFA7771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31761BA1-E742-694B-49B7-65F37B82E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A87CCFF3-572C-FB84-3DE2-9AA756B11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35F532E9-7CCF-A1EE-DCBA-36F2AF330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007C3CFE-6D3E-2EC5-9FD5-F89A9FEEFA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3732BE16-6967-2E8C-F5B0-B5FB6F2025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5D4A0CD9-4481-2F04-4EE0-34ACA745B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62072BCD-39DD-E19F-1816-C790B7C043AA}"/>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9B88638C-2B85-0B48-117B-1CF330B24462}"/>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Disk Exercises (A)</a:t>
            </a:r>
          </a:p>
        </p:txBody>
      </p:sp>
      <p:sp>
        <p:nvSpPr>
          <p:cNvPr id="3" name="Content Placeholder 2">
            <a:extLst>
              <a:ext uri="{FF2B5EF4-FFF2-40B4-BE49-F238E27FC236}">
                <a16:creationId xmlns:a16="http://schemas.microsoft.com/office/drawing/2014/main" id="{4B1B800B-BAAB-C8C5-C168-5810F0D672AC}"/>
              </a:ext>
            </a:extLst>
          </p:cNvPr>
          <p:cNvSpPr>
            <a:spLocks noGrp="1"/>
          </p:cNvSpPr>
          <p:nvPr>
            <p:ph idx="1"/>
          </p:nvPr>
        </p:nvSpPr>
        <p:spPr/>
        <p:txBody>
          <a:bodyPr>
            <a:noAutofit/>
          </a:bodyPr>
          <a:lstStyle/>
          <a:p>
            <a:pPr algn="just"/>
            <a:r>
              <a:rPr lang="en-US" sz="1800" dirty="0"/>
              <a:t>Description: </a:t>
            </a:r>
          </a:p>
          <a:p>
            <a:pPr lvl="1" algn="just"/>
            <a:r>
              <a:rPr lang="en-US" sz="1800" dirty="0"/>
              <a:t>You are tasked to investigate a disappearance of a girl who left for a party. Initial clues point the investigations towards the girl’s computer logs. With the provided forensic image of the computer, establish the file metadata and the required information relevant to the investigation. </a:t>
            </a:r>
          </a:p>
          <a:p>
            <a:pPr algn="just"/>
            <a:r>
              <a:rPr lang="en-US" sz="1800" dirty="0"/>
              <a:t>Questions:</a:t>
            </a:r>
          </a:p>
          <a:p>
            <a:pPr lvl="1" algn="just"/>
            <a:r>
              <a:rPr lang="en-US" sz="1800" dirty="0"/>
              <a:t>What is the girl’s name, and what phone does she use? (Hint: Find a picture with a phone, and check its properties)</a:t>
            </a:r>
          </a:p>
          <a:p>
            <a:pPr lvl="1" algn="just"/>
            <a:r>
              <a:rPr lang="en-US" sz="1800" dirty="0"/>
              <a:t>What is the version number of the girl's email software? </a:t>
            </a:r>
          </a:p>
          <a:p>
            <a:pPr lvl="1" algn="just"/>
            <a:r>
              <a:rPr lang="en-US" sz="1800" dirty="0"/>
              <a:t>Who has recently invited the girl to meet up?</a:t>
            </a:r>
          </a:p>
          <a:p>
            <a:pPr lvl="1" algn="just"/>
            <a:r>
              <a:rPr lang="en-US" sz="1800" dirty="0"/>
              <a:t>Find the password used for the chat app (Hint: Decode it once and observe what happens. Maybe you need to decode it multiple times…)</a:t>
            </a:r>
          </a:p>
          <a:p>
            <a:pPr algn="just"/>
            <a:r>
              <a:rPr lang="en-US" sz="1800" dirty="0"/>
              <a:t>Evidence:</a:t>
            </a:r>
          </a:p>
          <a:p>
            <a:pPr lvl="1" algn="just"/>
            <a:r>
              <a:rPr lang="en-US" sz="1800" dirty="0"/>
              <a:t>Party.e01</a:t>
            </a:r>
          </a:p>
        </p:txBody>
      </p:sp>
    </p:spTree>
    <p:extLst>
      <p:ext uri="{BB962C8B-B14F-4D97-AF65-F5344CB8AC3E}">
        <p14:creationId xmlns:p14="http://schemas.microsoft.com/office/powerpoint/2010/main" val="1217532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AA26-F8D5-2B10-C7B3-BCA6311FABB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EA6F98-CFBA-1B75-3921-2964ED8A6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5F62CEF1-95F1-54C8-A81E-578A8D547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A6314895-1812-9CA8-329C-B4B500FE02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49610775-2602-84FC-E95E-A8B02CC57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CEFDFE12-41FA-1B3A-4A41-30B8C9B6FA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23C3EAD2-C317-5958-AE9F-095DE1A36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5B075CBC-09B2-5CC6-BF00-6E3701B1D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203D5E2C-113A-B9BE-AD43-71A48C25E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28CF8BFA-1BDF-F7D8-62E3-3F336A358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1388D6A2-4CA3-937E-11DE-E8D8AF292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150327B6-F5AD-CB51-B063-1801E81C8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FE288553-4F3E-7965-10CD-A36DACB63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CB4E44F8-3285-1CEB-8CB7-09CCBE2B444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78E671A5-0921-3C68-447E-545DF6823AB1}"/>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Disk Exercises (B)</a:t>
            </a:r>
          </a:p>
        </p:txBody>
      </p:sp>
      <p:sp>
        <p:nvSpPr>
          <p:cNvPr id="3" name="Content Placeholder 2">
            <a:extLst>
              <a:ext uri="{FF2B5EF4-FFF2-40B4-BE49-F238E27FC236}">
                <a16:creationId xmlns:a16="http://schemas.microsoft.com/office/drawing/2014/main" id="{93154A0B-06CB-D545-D38F-FA5C860CA009}"/>
              </a:ext>
            </a:extLst>
          </p:cNvPr>
          <p:cNvSpPr>
            <a:spLocks noGrp="1"/>
          </p:cNvSpPr>
          <p:nvPr>
            <p:ph idx="1"/>
          </p:nvPr>
        </p:nvSpPr>
        <p:spPr/>
        <p:txBody>
          <a:bodyPr>
            <a:noAutofit/>
          </a:bodyPr>
          <a:lstStyle/>
          <a:p>
            <a:pPr algn="just"/>
            <a:r>
              <a:rPr lang="en-US" sz="1800" dirty="0"/>
              <a:t>Description: </a:t>
            </a:r>
          </a:p>
          <a:p>
            <a:pPr lvl="1" algn="just"/>
            <a:r>
              <a:rPr lang="en-US" sz="1800" dirty="0"/>
              <a:t>You are tasked to investigate suspected identity theft activities. With the provided forensic image of the computer, establish the file metadata and the required information relevant to the investigation. </a:t>
            </a:r>
          </a:p>
          <a:p>
            <a:pPr algn="just"/>
            <a:r>
              <a:rPr lang="en-US" sz="1800" dirty="0"/>
              <a:t>Questions:</a:t>
            </a:r>
          </a:p>
          <a:p>
            <a:pPr lvl="1" algn="just"/>
            <a:r>
              <a:rPr lang="en-US" sz="1800" dirty="0"/>
              <a:t>What suspicious / sensitive files were sent to the Recycle Bin?</a:t>
            </a:r>
          </a:p>
          <a:p>
            <a:pPr lvl="1" algn="just"/>
            <a:r>
              <a:rPr lang="en-US" sz="1800" dirty="0"/>
              <a:t>Find the user who sent the files to the recycle bin. (Hint: Software hive!)</a:t>
            </a:r>
          </a:p>
          <a:p>
            <a:pPr lvl="1" algn="just"/>
            <a:r>
              <a:rPr lang="en-US" sz="1800" dirty="0"/>
              <a:t>What software was used to encode the files in the process of the identity theft?</a:t>
            </a:r>
          </a:p>
          <a:p>
            <a:pPr lvl="1" algn="just"/>
            <a:r>
              <a:rPr lang="en-US" sz="1800" dirty="0"/>
              <a:t>What search engine did the User “Jimmy Wilson” use to search for: how to steal identities?</a:t>
            </a:r>
          </a:p>
          <a:p>
            <a:pPr algn="just"/>
            <a:r>
              <a:rPr lang="en-US" sz="1800" dirty="0"/>
              <a:t>Evidence:</a:t>
            </a:r>
          </a:p>
          <a:p>
            <a:pPr lvl="1" algn="just"/>
            <a:r>
              <a:rPr lang="en-US" sz="1800" dirty="0"/>
              <a:t>Jimmy.e01</a:t>
            </a:r>
          </a:p>
        </p:txBody>
      </p:sp>
    </p:spTree>
    <p:extLst>
      <p:ext uri="{BB962C8B-B14F-4D97-AF65-F5344CB8AC3E}">
        <p14:creationId xmlns:p14="http://schemas.microsoft.com/office/powerpoint/2010/main" val="4127781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4A239-F0F9-F671-97EC-28E2D707B04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011A4C-206F-1254-7E9F-3E5D1BC8C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7532ADF-5E44-BF49-F182-CFFA7CF35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47902228-E45B-A8D9-3567-EA041A8C89E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DDB83B69-91FF-2670-37B3-B71686B09F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1C12B154-0C06-E1C9-8694-99A72401D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83DDB48D-3101-3768-00B8-52071A8A6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097435E5-0AA6-06E4-00CC-036A940B4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271A6AC4-3551-7816-F501-70116F9CB9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B67BD9BB-EB63-9F55-1FD1-A8CA8886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D7D6A236-33F8-08C6-44FA-E64976E55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CE6A921C-182D-9BB9-20B7-4F65C6E2CE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084E8B1F-0740-A2D7-0C4F-82F81AF0D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13346F5A-A631-551E-D2FB-833D8C4A02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F0548CA9-21A8-2909-EE42-7FE8F5315012}"/>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Disk Exercises (C)</a:t>
            </a:r>
          </a:p>
        </p:txBody>
      </p:sp>
      <p:sp>
        <p:nvSpPr>
          <p:cNvPr id="3" name="Content Placeholder 2">
            <a:extLst>
              <a:ext uri="{FF2B5EF4-FFF2-40B4-BE49-F238E27FC236}">
                <a16:creationId xmlns:a16="http://schemas.microsoft.com/office/drawing/2014/main" id="{D50AAE28-0B81-D720-CEAF-C304577D9F74}"/>
              </a:ext>
            </a:extLst>
          </p:cNvPr>
          <p:cNvSpPr>
            <a:spLocks noGrp="1"/>
          </p:cNvSpPr>
          <p:nvPr>
            <p:ph idx="1"/>
          </p:nvPr>
        </p:nvSpPr>
        <p:spPr/>
        <p:txBody>
          <a:bodyPr>
            <a:noAutofit/>
          </a:bodyPr>
          <a:lstStyle/>
          <a:p>
            <a:pPr algn="just"/>
            <a:r>
              <a:rPr lang="en-US" sz="1800" dirty="0"/>
              <a:t>Description: </a:t>
            </a:r>
          </a:p>
          <a:p>
            <a:pPr lvl="1" algn="just"/>
            <a:r>
              <a:rPr lang="en-US" sz="1800" dirty="0"/>
              <a:t>A son of a high-profile person was kidnapped, his laptop was seized and you are tasked to analyze the computer. With the provided forensic image of the computer, establish the file metadata and the required information relevant to the investigation. </a:t>
            </a:r>
          </a:p>
          <a:p>
            <a:pPr algn="just"/>
            <a:r>
              <a:rPr lang="en-US" sz="1800" dirty="0"/>
              <a:t>Questions:</a:t>
            </a:r>
          </a:p>
          <a:p>
            <a:pPr lvl="1" algn="just"/>
            <a:r>
              <a:rPr lang="en-US" sz="1800" dirty="0"/>
              <a:t>List all users of the laptop</a:t>
            </a:r>
          </a:p>
          <a:p>
            <a:pPr lvl="1" algn="just"/>
            <a:r>
              <a:rPr lang="en-US" sz="1800" dirty="0"/>
              <a:t>What web application was used by the boy to earn his pocket money? (Hint: He sells something illegal…)</a:t>
            </a:r>
          </a:p>
          <a:p>
            <a:pPr lvl="1" algn="just"/>
            <a:r>
              <a:rPr lang="en-US" sz="1800" dirty="0"/>
              <a:t>Which BTC wallet did the boy use?</a:t>
            </a:r>
          </a:p>
          <a:p>
            <a:pPr lvl="1" algn="just"/>
            <a:r>
              <a:rPr lang="en-US" sz="1800" dirty="0"/>
              <a:t>On which date does the kid's database show the most sales for "Acapulco Gold"? (Hint: The password is in an email somewhere…)</a:t>
            </a:r>
          </a:p>
          <a:p>
            <a:pPr algn="just"/>
            <a:r>
              <a:rPr lang="en-US" sz="1800" dirty="0"/>
              <a:t>Evidence:</a:t>
            </a:r>
          </a:p>
          <a:p>
            <a:pPr lvl="1" algn="just"/>
            <a:r>
              <a:rPr lang="en-US" sz="1800" dirty="0"/>
              <a:t>Kidnap.e01</a:t>
            </a:r>
          </a:p>
        </p:txBody>
      </p:sp>
    </p:spTree>
    <p:extLst>
      <p:ext uri="{BB962C8B-B14F-4D97-AF65-F5344CB8AC3E}">
        <p14:creationId xmlns:p14="http://schemas.microsoft.com/office/powerpoint/2010/main" val="86143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199E-FF33-7050-652A-5C69CB2C612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D06BC2C-9944-F92F-CC58-2C530DE59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AD8825B-B920-051E-6677-A29FEA29D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C46DA023-1152-B580-7F99-00FC7E2C8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FA9CD140-4223-7528-2EB8-08DEB58A3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D5D50EF5-CEE1-1614-1634-4D5FC65D3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CB73834A-0175-67DE-4D98-0FE1E9E8B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97DDB5F8-AEF0-CAF0-82F4-2719DEC342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0" name="Group 19">
            <a:extLst>
              <a:ext uri="{FF2B5EF4-FFF2-40B4-BE49-F238E27FC236}">
                <a16:creationId xmlns:a16="http://schemas.microsoft.com/office/drawing/2014/main" id="{E4ABBBF0-C020-470B-C06D-67583C42B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08E5F2DA-2CB6-BD30-6A58-517D0B0378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CF45571E-D3C6-75D8-CFEE-381173C1D0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CF07D607-9657-A745-B195-A5EA81E6A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73101858-3E45-92DD-6687-3702C39C20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 name="Slide Number Placeholder 4">
            <a:extLst>
              <a:ext uri="{FF2B5EF4-FFF2-40B4-BE49-F238E27FC236}">
                <a16:creationId xmlns:a16="http://schemas.microsoft.com/office/drawing/2014/main" id="{AF9F9504-9BE7-2558-36EA-5570DF4318A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76EEB324-2100-8B11-C389-AA47C5298ACF}"/>
              </a:ext>
            </a:extLst>
          </p:cNvPr>
          <p:cNvSpPr>
            <a:spLocks noGrp="1"/>
          </p:cNvSpPr>
          <p:nvPr>
            <p:ph type="title"/>
          </p:nvPr>
        </p:nvSpPr>
        <p:spPr>
          <a:xfrm>
            <a:off x="838200" y="365125"/>
            <a:ext cx="10515600" cy="1325563"/>
          </a:xfrm>
        </p:spPr>
        <p:txBody>
          <a:bodyPr/>
          <a:lstStyle/>
          <a:p>
            <a:r>
              <a:rPr lang="en-US" b="1" dirty="0">
                <a:solidFill>
                  <a:srgbClr val="163E64"/>
                </a:solidFill>
                <a:latin typeface="Calibri" panose="020F0502020204030204" pitchFamily="34" charset="0"/>
              </a:rPr>
              <a:t>Cellphone Exercise</a:t>
            </a:r>
          </a:p>
        </p:txBody>
      </p:sp>
      <p:sp>
        <p:nvSpPr>
          <p:cNvPr id="3" name="Content Placeholder 2">
            <a:extLst>
              <a:ext uri="{FF2B5EF4-FFF2-40B4-BE49-F238E27FC236}">
                <a16:creationId xmlns:a16="http://schemas.microsoft.com/office/drawing/2014/main" id="{8DC36DDA-15EC-69B9-6EBE-0C5D98BC44E0}"/>
              </a:ext>
            </a:extLst>
          </p:cNvPr>
          <p:cNvSpPr>
            <a:spLocks noGrp="1"/>
          </p:cNvSpPr>
          <p:nvPr>
            <p:ph idx="1"/>
          </p:nvPr>
        </p:nvSpPr>
        <p:spPr/>
        <p:txBody>
          <a:bodyPr>
            <a:noAutofit/>
          </a:bodyPr>
          <a:lstStyle/>
          <a:p>
            <a:pPr algn="just"/>
            <a:r>
              <a:rPr lang="en-US" sz="1800" dirty="0"/>
              <a:t>Description: </a:t>
            </a:r>
          </a:p>
          <a:p>
            <a:pPr lvl="1" algn="just"/>
            <a:r>
              <a:rPr lang="en-US" sz="1800" dirty="0"/>
              <a:t>A physical acquisition of an Android device containing evidence of a conspiracy. Find out artifacts and evidence to support the investigation.</a:t>
            </a:r>
          </a:p>
          <a:p>
            <a:pPr algn="just"/>
            <a:r>
              <a:rPr lang="en-US" sz="1800" dirty="0"/>
              <a:t>Questions:</a:t>
            </a:r>
          </a:p>
          <a:p>
            <a:pPr lvl="1" algn="just"/>
            <a:r>
              <a:rPr lang="en-US" sz="1800" dirty="0"/>
              <a:t>What is the IMEI and Build Number of the device?</a:t>
            </a:r>
          </a:p>
          <a:p>
            <a:pPr lvl="1" algn="just"/>
            <a:r>
              <a:rPr lang="en-US" sz="1800" dirty="0"/>
              <a:t>Find a deleted message in the LINE directory. What type of artifact is this, and what does it tell you about user activity? </a:t>
            </a:r>
          </a:p>
          <a:p>
            <a:pPr lvl="1" algn="just"/>
            <a:r>
              <a:rPr lang="en-US" sz="1800" dirty="0"/>
              <a:t>Were there any images that were deleted from the phone?</a:t>
            </a:r>
          </a:p>
          <a:p>
            <a:pPr lvl="1" algn="just"/>
            <a:r>
              <a:rPr lang="en-US" sz="1800" dirty="0"/>
              <a:t>What was the distance of the user’s most recent run that was recorded?</a:t>
            </a:r>
          </a:p>
          <a:p>
            <a:pPr algn="just"/>
            <a:r>
              <a:rPr lang="en-US" sz="1800" dirty="0"/>
              <a:t>Evidence:</a:t>
            </a:r>
          </a:p>
          <a:p>
            <a:pPr lvl="1" algn="just"/>
            <a:r>
              <a:rPr lang="en-US" sz="1800" dirty="0"/>
              <a:t>Josh Hickman’s Android 12 Image (Public Repo)</a:t>
            </a:r>
          </a:p>
        </p:txBody>
      </p:sp>
    </p:spTree>
    <p:extLst>
      <p:ext uri="{BB962C8B-B14F-4D97-AF65-F5344CB8AC3E}">
        <p14:creationId xmlns:p14="http://schemas.microsoft.com/office/powerpoint/2010/main" val="61567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6397</TotalTime>
  <Words>1357</Words>
  <Application>Microsoft Office PowerPoint</Application>
  <PresentationFormat>Widescreen</PresentationFormat>
  <Paragraphs>150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Assignment</vt:lpstr>
      <vt:lpstr>Cyber Exercises</vt:lpstr>
      <vt:lpstr>Network Exercise (A)</vt:lpstr>
      <vt:lpstr>Network Exercise (B)</vt:lpstr>
      <vt:lpstr>Network Exercise (C)</vt:lpstr>
      <vt:lpstr>Memory Exercise (A)</vt:lpstr>
      <vt:lpstr>Memory Exercise (B)</vt:lpstr>
      <vt:lpstr>Memory Exercise (C)</vt:lpstr>
      <vt:lpstr>Disk Exercises (A)</vt:lpstr>
      <vt:lpstr>Disk Exercises (B)</vt:lpstr>
      <vt:lpstr>Disk Exercises (C)</vt:lpstr>
      <vt:lpstr>Cellphone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FOO CE ZHI (MINDEF)</dc:creator>
  <cp:lastModifiedBy>Zheng yong Tan</cp:lastModifiedBy>
  <cp:revision>326</cp:revision>
  <dcterms:created xsi:type="dcterms:W3CDTF">2025-10-15T02:21:01Z</dcterms:created>
  <dcterms:modified xsi:type="dcterms:W3CDTF">2026-03-17T06:19:58Z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05819a8-3ff8-44dd-98f3-d662a938267f_Enabled">
    <vt:lpwstr>true</vt:lpwstr>
  </property>
  <property fmtid="{D5CDD505-2E9C-101B-9397-08002B2CF9AE}" pid="3" name="MSIP_Label_c05819a8-3ff8-44dd-98f3-d662a938267f_SetDate">
    <vt:lpwstr>2025-10-15T02:23:31Z</vt:lpwstr>
  </property>
  <property fmtid="{D5CDD505-2E9C-101B-9397-08002B2CF9AE}" pid="4" name="MSIP_Label_c05819a8-3ff8-44dd-98f3-d662a938267f_Method">
    <vt:lpwstr>Privileged</vt:lpwstr>
  </property>
  <property fmtid="{D5CDD505-2E9C-101B-9397-08002B2CF9AE}" pid="5" name="MSIP_Label_c05819a8-3ff8-44dd-98f3-d662a938267f_Name">
    <vt:lpwstr>Official Closed Sensitive Normal</vt:lpwstr>
  </property>
  <property fmtid="{D5CDD505-2E9C-101B-9397-08002B2CF9AE}" pid="6" name="MSIP_Label_c05819a8-3ff8-44dd-98f3-d662a938267f_SiteId">
    <vt:lpwstr>17558ced-9068-439c-bdf1-fe9f9e07f45e</vt:lpwstr>
  </property>
  <property fmtid="{D5CDD505-2E9C-101B-9397-08002B2CF9AE}" pid="7" name="MSIP_Label_c05819a8-3ff8-44dd-98f3-d662a938267f_ActionId">
    <vt:lpwstr>643acb13-41cc-49a5-be3b-28fba26d20d3</vt:lpwstr>
  </property>
  <property fmtid="{D5CDD505-2E9C-101B-9397-08002B2CF9AE}" pid="8" name="MSIP_Label_c05819a8-3ff8-44dd-98f3-d662a938267f_ContentBits">
    <vt:lpwstr>0</vt:lpwstr>
  </property>
  <property fmtid="{D5CDD505-2E9C-101B-9397-08002B2CF9AE}" pid="9" name="MSIP_Label_c05819a8-3ff8-44dd-98f3-d662a938267f_Tag">
    <vt:lpwstr>10, 0, 1, 1</vt:lpwstr>
  </property>
</Properties>
</file>